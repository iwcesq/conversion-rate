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3" r:id="rId5"/>
    <p:sldId id="262" r:id="rId6"/>
    <p:sldId id="265" r:id="rId7"/>
    <p:sldId id="258" r:id="rId8"/>
    <p:sldId id="259" r:id="rId9"/>
    <p:sldId id="260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88205" autoAdjust="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893E6-DE8A-4507-BE98-EBCFF897D130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73F88-0494-4435-ADDA-6F2C8CFC040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379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 (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это истина: поскольку мы знаем, что данные о продажах (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на 100% являются точными, линия регрессии отражает детерминированную зависимость. Если произошло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продаж, значит, в помещение обязательно вошло 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человек.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 </a:t>
            </a:r>
            <a:endParaRPr lang="en-A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Константа (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₀) – это базовый уровень: Он отражает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нетранзакционный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трафик (например,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 shopper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Это количество людей, которое мы получаем даже при нулевых продажах.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Остаток (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– ключевой элемент: Эта красная линия – стохастическая составляющая. В идеальном мире это просто случайный шум (гауссовский). Но в нашем мире, если остаток становится слишком большим, это уже не шум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это неисправный сенсор.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Мой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алгоритм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полностью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сосредоточен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анализе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статистических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свойств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18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На графике показано, как линейная модель объясняет количество посетителей на основе двух факторов: времени и чеков. Серая поверхность</a:t>
            </a:r>
            <a:r>
              <a:rPr lang="en-US" dirty="0">
                <a:effectLst/>
              </a:rPr>
              <a:t> - </a:t>
            </a:r>
            <a:r>
              <a:rPr lang="ru-RU" dirty="0">
                <a:effectLst/>
              </a:rPr>
              <a:t>это предсказания модели, а цветные точки</a:t>
            </a:r>
            <a:r>
              <a:rPr lang="en-US" dirty="0">
                <a:effectLst/>
              </a:rPr>
              <a:t> - </a:t>
            </a:r>
            <a:r>
              <a:rPr lang="ru-RU" dirty="0">
                <a:effectLst/>
              </a:rPr>
              <a:t>реальные данные. </a:t>
            </a:r>
            <a:endParaRPr lang="en-US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Мы видим, что модель улавливает общую тенденцию, но также можно заметить участки, где отклонения от поверхности значительны</a:t>
            </a:r>
            <a:r>
              <a:rPr lang="en-US" dirty="0">
                <a:effectLst/>
              </a:rPr>
              <a:t> - </a:t>
            </a:r>
            <a:r>
              <a:rPr lang="ru-RU" dirty="0">
                <a:effectLst/>
              </a:rPr>
              <a:t>это зоны, где модель может быть улучшена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787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ходе диагностики первой версии модели я выявил структурные нарушения условий Гаусса-Маркова: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Гетероскедастичность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Дисперсия ошибки росла пропорционально объему трафика (ошибка на больших магазинах была в разы выше, чем на малых).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Нелинейность: Зависимость трафика от чеков имеет характер убывающей отдачи, что линейная модель не улавливала.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устранить эти фундаментальные проблемы, я изменил спецификацию модели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с аддитивной на мультипликативную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Log-Log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дало нам два преимущества: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Математически: Я стабилизировал дисперсию (остатки(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стали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гомоскедастичными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Физически: Коэффициенты теперь интерпретируются как эластичность, что гораздо точнее описывает реальное поведение покупательского потока.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515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Визуальная интерпретация прошлой формулы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9050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Панель A (Эластичность):   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«Эта кривая показывает «физику» зависимости. Она доказывает эффект убывающей отдачи. По мере того как магазин становится более загруженным (рост чеков), трафик растёт, но чуть медленнее.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роста кол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чеков нет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1%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роста трафика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Модель это учитывает.</a:t>
            </a:r>
            <a:endParaRPr lang="en-A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Панель B (Суточная кривая):  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работает полином (Hour²). Модель научилась тому, что трафик естественно падает или растёт в определённые часы независимо от продаж.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защищает нас от пометок «тихих послеобеденных часов» как сбоев сенсора.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Линия не плато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с элементами изгиба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обнаружила, что множитель уменьшается по мере течения дня.  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Бизнес‑реальность: Это означает, что эффективность растёт к концу дня.  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- 10:00: высокий трафик / низкие продажи (окна‑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шопперы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просто смотрят).  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- 20:00: низкий трафик / высокие продажи (люди приходят после работы целенаправленно купить).  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- Модель уловила это поведение идеально.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Панель C (Выходные):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правильно определила, что по субботам (день 7) и пятницам (день 6) наблюдается естественный прирост трафика (окна‑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шопперы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Она ожидает больше людей в эти дни.» 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Панель D (ДНК магазина):  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Гистограмма показывает наши магазины. Разброс доказывает, что один размер не подходит всем.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Панель C (Эффект выходных)</a:t>
            </a:r>
          </a:p>
          <a:p>
            <a:pPr rtl="0" fontAlgn="base"/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Посмотрите на День 2 (понедельник): он опускается ниже нуля. Понедельники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самые «неэффективные» (или с наименьшим трафиком относительно продаж).  </a:t>
            </a:r>
          </a:p>
          <a:p>
            <a:pPr rtl="0" fontAlgn="base"/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Посмотрите на День 7 (суббота): он резко растёт. По субботам наблюдается наибольшее количество людей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701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в модели выбросы все равно остались.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 1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Число: Посмотрите на подзаголовок: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Kurtosis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66.4.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нормального распределения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куртозис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коэффициент эксцесса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равен 3.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Наши данные в 22 раза более «острые» и «толстохвостые», чем нормальное распределение.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Видите, как красная линия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гауссиана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низкая и плоская? Она ожидает более равномерного разброса. 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наши реальные данные (серые) крайне сконцентрированы в центре с длинными тонкими хвостами.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значит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все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связано со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использоваться не должно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График 2: Доказательство эффекта «маскировки»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Разрыв: Посмотрите на расстояние между красной линией (≈ 10) и синей линией (≈ 7.5).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«Оранжевые точки»: Это конкретные часы, где ошибка составляла 8 или 9 человек.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Стандартное отклонение (красное): говорит «Всё в порядке. Игнорируйте» (потому что огромный выброс в 87 человек раздул стандартное отклонение).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(синее): говорит «Нет, это выброс. Исправьте».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fontAlgn="base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ловим ошибки в диапазоне «8–10 человек», которые старый метод пропускал. В розничном бизнесе пропуск 8 человек в час — это серьёзная потеря точности данных.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200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effectLst/>
              </a:rPr>
              <a:t>Решение: «Коэффициент преобразования» 1.4826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Чтобы сделать безопасное значение MAD сопоставимым с привычным стандартным отклонением, его нужно масштабировать вверх.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Математически, для идеальной колоколообразной кривой</a:t>
            </a:r>
            <a:r>
              <a:rPr lang="en-US" dirty="0">
                <a:effectLst/>
              </a:rPr>
              <a:t>.</a:t>
            </a:r>
            <a:endParaRPr lang="ru-RU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91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Первоначально, я полагал решить проблему с выбросами через доверительные интервалы. В формуле расчета доверительного интервала используется переменная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., но коэффициенты асимметрии и коэффициенты эксцесса были высокими, что уже не позволяет использовать ни среднюю, ни стандартное отклонение. </a:t>
            </a:r>
            <a:endParaRPr lang="en-A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504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73F88-0494-4435-ADDA-6F2C8CFC0407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490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0775-DD71-4C47-B700-8E32FB42DD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906DDA-1FA7-4B7D-BECE-E6DE2BC20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3FA0E-3936-43EE-A3F2-19C86BA8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5F1FD-725C-4727-90BE-E85AC920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450F2-BA50-4D0B-85C8-6051B4144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963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05119-40DB-4DA6-9762-3D510A98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898E1-4F76-405C-8498-9E14D578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64A4-CCDA-4FBB-B925-E52002DB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075D9-48C1-465E-95B3-31B76F7B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5F937-527D-4D8C-82E0-8C204AA9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65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676B-8B3A-4E3E-958C-8C18A407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812B4-0581-4264-9AED-EF5FF9F51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230-C073-4CCB-ADF8-40E3415B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186A0-9133-40BB-A7D5-97A2F77E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AC5E0-EA17-470C-81F1-7AF0C4FE8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406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846B-7769-4701-B1DD-8548EB80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3A038-975F-4892-A721-5B3903AC79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1415-DA0A-4503-A1ED-D1626D63F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06C14-51CB-4CCD-BCE7-9962DAA83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BC791-9ADB-450E-AB15-0AEB0B07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96635-D1CB-40C8-BCEC-629340AC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04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753C1-4261-4CE6-BC91-D91D24A1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549F0-EB18-4AEE-8F52-AC9B989C5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96B7B-92FE-44F9-8194-6BD9FB70F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66E8A-A238-49DE-ACD2-C2DA55F2F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78513-4F0F-4CE3-86F5-F2B6EB4CC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15E1B4-10EB-4EB1-9408-047B2146A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12F00-B230-41F8-A1F4-B83F0FDE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B83A3-D593-4F72-A555-6FDEF768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273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9172-39F8-4E89-AD0E-BD0EDB91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05C82-CD4D-43E7-8873-B9B32F2D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E8501-044A-432E-B7E7-40C2570D6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50E51-AECA-4FE0-826F-28A60FDB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0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E1DFC-B12B-4E62-A616-51706805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2D0C43-4A2B-4C58-AE4F-B817A731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2376D-A69A-4E8C-854E-D98BCE71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434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1AB8E-9F2C-4632-9FDC-BCBE7B39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8649E-BDC6-4E0F-BCE8-2113F77C5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6CAFA-1599-4FC2-8F0A-7A8BB0CE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48DE9-7532-4436-BF46-3B6D7738F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311AD5-854A-4149-AFE3-B604D60CE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D4B32-801C-47ED-8A53-6D44CB09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4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9DC-03F9-4C78-9BFA-9220530F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60BB2-0BBA-4AFE-A644-874242322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D9120-E9CC-49B3-9847-1D0658B3E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D8310-B1C1-4E31-8837-00C8C5C7F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C7D23-9D75-4582-9BDD-E3691415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6B00-E83F-4E05-82B8-80344F502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0668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3A9D-0BF2-4B24-9F55-DFC04D6A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2E56F7-3105-4582-9A91-DA8B43F89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10B63-B203-46C0-9911-568AC0C0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7281E-0AF1-4207-8F60-D8EFC60F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66695-534E-4A04-9E61-43C0182F8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527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D84280-3DBF-4030-8225-591B150B9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D6360-1580-4508-AD52-5227451D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E5ECE-E1F8-4E6B-B295-ACA4C2FF6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DA0C1-CC9E-4F2D-B22E-253BA220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E1795-4DB7-45B5-9772-074E59808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506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AA469-EBF1-40A4-8F05-24D1EE115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548A9-47F1-4ABD-B3B2-FDDFF52F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82618-C0FB-429B-BEE9-4E21C25B8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BC823-49A1-4687-8317-6699E7A65FAA}" type="datetimeFigureOut">
              <a:rPr lang="en-AU" smtClean="0"/>
              <a:t>29/01/2026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512B7-0D82-4BD4-92A8-5488B7D9C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F2423-5AD2-4B40-A901-E581687FC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E8F1D-4D0F-4E57-901D-DCCFCCD83E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723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B16114-3059-4401-A3E2-836290E061CD}"/>
              </a:ext>
            </a:extLst>
          </p:cNvPr>
          <p:cNvSpPr txBox="1"/>
          <p:nvPr/>
        </p:nvSpPr>
        <p:spPr>
          <a:xfrm>
            <a:off x="409073" y="56147"/>
            <a:ext cx="268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Анатомия модели</a:t>
            </a:r>
            <a:r>
              <a:rPr lang="en-US" sz="1400" dirty="0"/>
              <a:t>*</a:t>
            </a:r>
            <a:r>
              <a:rPr lang="en-US" dirty="0"/>
              <a:t>.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9FC89-D991-4912-8170-A629F8A9242E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Мы рассматриваем трафик как детерминированный процесс </a:t>
            </a:r>
            <a:r>
              <a:rPr lang="en-US" sz="1400" dirty="0"/>
              <a:t>+ </a:t>
            </a:r>
            <a:r>
              <a:rPr lang="ru-RU" sz="1400" dirty="0"/>
              <a:t>шум</a:t>
            </a:r>
            <a:endParaRPr lang="en-AU" sz="1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A34968-ED7A-4151-AA35-4C18A3419FCF}"/>
              </a:ext>
            </a:extLst>
          </p:cNvPr>
          <p:cNvGrpSpPr/>
          <p:nvPr/>
        </p:nvGrpSpPr>
        <p:grpSpPr>
          <a:xfrm>
            <a:off x="148386" y="727381"/>
            <a:ext cx="10808370" cy="5898214"/>
            <a:chOff x="148386" y="727381"/>
            <a:chExt cx="10808370" cy="589821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21826E-4E7F-496D-A4AD-EAAF4FC99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588" y="922214"/>
              <a:ext cx="10732168" cy="57033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236441-2EBE-4363-B8E4-E679571167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14" b="91417"/>
            <a:stretch/>
          </p:blipFill>
          <p:spPr>
            <a:xfrm>
              <a:off x="148386" y="727381"/>
              <a:ext cx="4586005" cy="641891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87CE83-992A-4597-87A8-BBE2A04D08BB}"/>
              </a:ext>
            </a:extLst>
          </p:cNvPr>
          <p:cNvSpPr txBox="1"/>
          <p:nvPr/>
        </p:nvSpPr>
        <p:spPr>
          <a:xfrm>
            <a:off x="409072" y="6558818"/>
            <a:ext cx="2687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*</a:t>
            </a:r>
            <a:r>
              <a:rPr lang="ru-RU" sz="1050" dirty="0"/>
              <a:t>Упрощенная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46108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78D544-6055-45F1-AF6F-3C3C64387AF7}"/>
              </a:ext>
            </a:extLst>
          </p:cNvPr>
          <p:cNvSpPr txBox="1"/>
          <p:nvPr/>
        </p:nvSpPr>
        <p:spPr>
          <a:xfrm>
            <a:off x="5141493" y="966268"/>
            <a:ext cx="7341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i="1" dirty="0"/>
              <a:t>Y</a:t>
            </a:r>
            <a:r>
              <a:rPr lang="ru-RU" sz="1400" dirty="0"/>
              <a:t> (Расчетное кол-во </a:t>
            </a:r>
            <a:r>
              <a:rPr lang="ru-RU" sz="1400" dirty="0" err="1"/>
              <a:t>посет</a:t>
            </a:r>
            <a:r>
              <a:rPr lang="ru-RU" sz="1400" dirty="0"/>
              <a:t>.) = </a:t>
            </a:r>
            <a:r>
              <a:rPr lang="en-US" sz="1400" b="1" dirty="0"/>
              <a:t>β</a:t>
            </a:r>
            <a:r>
              <a:rPr lang="ru-RU" sz="1400" baseline="-25000" dirty="0"/>
              <a:t>0</a:t>
            </a:r>
            <a:r>
              <a:rPr lang="ru-RU" sz="1400" dirty="0"/>
              <a:t> + </a:t>
            </a:r>
            <a:r>
              <a:rPr lang="ru-RU" sz="1400" b="1" dirty="0"/>
              <a:t>β</a:t>
            </a:r>
            <a:r>
              <a:rPr lang="ru-RU" sz="1400" baseline="-25000" dirty="0"/>
              <a:t>1</a:t>
            </a:r>
            <a:r>
              <a:rPr lang="ru-RU" sz="1400" dirty="0"/>
              <a:t>(Чеки) + </a:t>
            </a:r>
            <a:r>
              <a:rPr lang="ru-RU" sz="1400" b="1" dirty="0"/>
              <a:t>β</a:t>
            </a:r>
            <a:r>
              <a:rPr lang="ru-RU" sz="1400" baseline="-25000" dirty="0"/>
              <a:t>2</a:t>
            </a:r>
            <a:r>
              <a:rPr lang="ru-RU" sz="1400" dirty="0"/>
              <a:t>(Часы) + </a:t>
            </a:r>
            <a:r>
              <a:rPr lang="ru-RU" sz="1400" b="1" dirty="0"/>
              <a:t>β</a:t>
            </a:r>
            <a:r>
              <a:rPr lang="ru-RU" sz="1400" baseline="-25000" dirty="0"/>
              <a:t>3</a:t>
            </a:r>
            <a:r>
              <a:rPr lang="ru-RU" sz="1400" dirty="0"/>
              <a:t>(Месяц) + </a:t>
            </a:r>
            <a:r>
              <a:rPr lang="ru-RU" sz="1400" b="1" dirty="0"/>
              <a:t>β</a:t>
            </a:r>
            <a:r>
              <a:rPr lang="ru-RU" sz="1400" baseline="-25000" dirty="0"/>
              <a:t>4</a:t>
            </a:r>
            <a:r>
              <a:rPr lang="ru-RU" sz="1400" dirty="0"/>
              <a:t>(День недели) + </a:t>
            </a:r>
            <a:r>
              <a:rPr lang="en-AU" sz="1400" b="1" dirty="0"/>
              <a:t>ε</a:t>
            </a:r>
            <a:endParaRPr lang="en-AU" sz="1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BDEBED-D39A-40B7-9E88-08A909C79C0B}"/>
              </a:ext>
            </a:extLst>
          </p:cNvPr>
          <p:cNvSpPr/>
          <p:nvPr/>
        </p:nvSpPr>
        <p:spPr>
          <a:xfrm>
            <a:off x="6438900" y="2235555"/>
            <a:ext cx="5376914" cy="3688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Модель оценивает, как количество посетителей зависит одновременно от времени и чеков.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Если поверхность гладкая и близка к точкам, это говорит о хорошем качестве аппроксимации.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Наклон поверхности по каждой оси показывает влияние соответствующего признака: например, если поверхность поднимается с ростом X1, значит большее кол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</a:rPr>
              <a:t>во чеков приводят к увеличению числа посетителей.</a:t>
            </a:r>
          </a:p>
          <a:p>
            <a:endParaRPr lang="en-AU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F3CC6-30A7-42B8-BCE4-0768EF6A7EA4}"/>
              </a:ext>
            </a:extLst>
          </p:cNvPr>
          <p:cNvSpPr txBox="1"/>
          <p:nvPr/>
        </p:nvSpPr>
        <p:spPr>
          <a:xfrm>
            <a:off x="409073" y="56147"/>
            <a:ext cx="741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Геометрия модели</a:t>
            </a:r>
            <a:r>
              <a:rPr lang="en-US" dirty="0"/>
              <a:t>: </a:t>
            </a:r>
            <a:r>
              <a:rPr lang="ru-RU" dirty="0"/>
              <a:t>Многомерная плоскость регрессии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7BBE0-9C7A-4B5C-87BA-96B50B7B5724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Углубление</a:t>
            </a:r>
            <a:r>
              <a:rPr lang="en-US" sz="1400" dirty="0"/>
              <a:t>. </a:t>
            </a:r>
            <a:r>
              <a:rPr lang="ru-RU" sz="1400" dirty="0"/>
              <a:t>В реальности факторов много</a:t>
            </a:r>
            <a:r>
              <a:rPr lang="en-US" sz="1400" dirty="0"/>
              <a:t>, </a:t>
            </a:r>
            <a:r>
              <a:rPr lang="ru-RU" sz="1400" dirty="0"/>
              <a:t>это гиперплоскость</a:t>
            </a:r>
            <a:r>
              <a:rPr lang="en-US" sz="1400" dirty="0"/>
              <a:t>.</a:t>
            </a:r>
            <a:endParaRPr lang="en-AU" sz="14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6008593-7EF6-4A72-AD06-1B851A0E9BD5}"/>
              </a:ext>
            </a:extLst>
          </p:cNvPr>
          <p:cNvGrpSpPr/>
          <p:nvPr/>
        </p:nvGrpSpPr>
        <p:grpSpPr>
          <a:xfrm>
            <a:off x="243161" y="1481501"/>
            <a:ext cx="5179072" cy="4936016"/>
            <a:chOff x="243161" y="1481501"/>
            <a:chExt cx="5179072" cy="49360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10B0C2C-69A8-4C3B-8F3B-CDAA09DE16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03" t="17445" r="25621"/>
            <a:stretch/>
          </p:blipFill>
          <p:spPr>
            <a:xfrm>
              <a:off x="243161" y="1620001"/>
              <a:ext cx="5179072" cy="4797516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2EEC1C-3D48-4AFA-8D18-7828B1E1624A}"/>
                </a:ext>
              </a:extLst>
            </p:cNvPr>
            <p:cNvSpPr txBox="1"/>
            <p:nvPr/>
          </p:nvSpPr>
          <p:spPr>
            <a:xfrm>
              <a:off x="409072" y="1481501"/>
              <a:ext cx="275924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100" i="1" dirty="0"/>
                <a:t>Визуализация частных производных</a:t>
              </a:r>
              <a:endParaRPr lang="en-AU" sz="11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9975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82E8F7-6A4D-405C-A7AD-82FBAECB2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13" b="7644"/>
          <a:stretch/>
        </p:blipFill>
        <p:spPr>
          <a:xfrm>
            <a:off x="689800" y="1163052"/>
            <a:ext cx="10058420" cy="4924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2F3B0D-C0AA-431F-9C79-28A9BFF2148E}"/>
              </a:ext>
            </a:extLst>
          </p:cNvPr>
          <p:cNvSpPr txBox="1"/>
          <p:nvPr/>
        </p:nvSpPr>
        <p:spPr>
          <a:xfrm>
            <a:off x="409073" y="56147"/>
            <a:ext cx="741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Архитектура модели</a:t>
            </a:r>
            <a:r>
              <a:rPr lang="en-US" dirty="0"/>
              <a:t>: </a:t>
            </a:r>
            <a:r>
              <a:rPr lang="ru-RU" dirty="0"/>
              <a:t>Переход к мультипликативной форме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0011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36C6E50-3CDC-4BCC-865C-83B71B5CB191}"/>
              </a:ext>
            </a:extLst>
          </p:cNvPr>
          <p:cNvGrpSpPr/>
          <p:nvPr/>
        </p:nvGrpSpPr>
        <p:grpSpPr>
          <a:xfrm>
            <a:off x="104275" y="47176"/>
            <a:ext cx="12087725" cy="6810824"/>
            <a:chOff x="104275" y="47176"/>
            <a:chExt cx="12087725" cy="6810824"/>
          </a:xfrm>
        </p:grpSpPr>
        <p:pic>
          <p:nvPicPr>
            <p:cNvPr id="10" name="Picture 9" descr="A graph of a graph&#10;&#10;AI-generated content may be incorrect.">
              <a:extLst>
                <a:ext uri="{FF2B5EF4-FFF2-40B4-BE49-F238E27FC236}">
                  <a16:creationId xmlns:a16="http://schemas.microsoft.com/office/drawing/2014/main" id="{10D62038-0C0F-FDA9-51CD-E038C59DFF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08"/>
            <a:stretch/>
          </p:blipFill>
          <p:spPr>
            <a:xfrm>
              <a:off x="104275" y="432187"/>
              <a:ext cx="11839074" cy="642581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FB3B21-9393-4717-B04A-BC6BAD8CC402}"/>
                </a:ext>
              </a:extLst>
            </p:cNvPr>
            <p:cNvSpPr txBox="1"/>
            <p:nvPr/>
          </p:nvSpPr>
          <p:spPr>
            <a:xfrm>
              <a:off x="104275" y="47176"/>
              <a:ext cx="12087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b="1" dirty="0"/>
                <a:t>Спецификация модели</a:t>
              </a:r>
              <a:r>
                <a:rPr lang="en-US" b="1" dirty="0"/>
                <a:t>: </a:t>
              </a:r>
              <a:r>
                <a:rPr lang="ru-RU" b="1" dirty="0"/>
                <a:t>Стабилизация дисперсии и нелинейность</a:t>
              </a:r>
              <a:endParaRPr lang="en-AU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735613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316C06-661C-416E-9F83-FFEB2D3D6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93076"/>
            <a:ext cx="9745436" cy="62649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7F5269-D4DE-4F2F-A0EF-DC9016DBA6E8}"/>
              </a:ext>
            </a:extLst>
          </p:cNvPr>
          <p:cNvSpPr txBox="1"/>
          <p:nvPr/>
        </p:nvSpPr>
        <p:spPr>
          <a:xfrm>
            <a:off x="409073" y="56147"/>
            <a:ext cx="2687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Инсайты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F325F-68C5-4EA4-802A-DF12D9D1C9E8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Валидация</a:t>
            </a:r>
            <a:r>
              <a:rPr lang="en-US" sz="1400" dirty="0"/>
              <a:t>. </a:t>
            </a:r>
            <a:r>
              <a:rPr lang="ru-RU" sz="1400" dirty="0"/>
              <a:t>Модель выучила реальную физику бизнеса </a:t>
            </a:r>
            <a:r>
              <a:rPr lang="en-US" sz="1400" dirty="0"/>
              <a:t>(</a:t>
            </a:r>
            <a:r>
              <a:rPr lang="ru-RU" sz="1400" dirty="0"/>
              <a:t>эластичность</a:t>
            </a:r>
            <a:r>
              <a:rPr lang="en-US" sz="1400" dirty="0"/>
              <a:t>,</a:t>
            </a:r>
            <a:r>
              <a:rPr lang="ru-RU" sz="1400" dirty="0"/>
              <a:t> выходные</a:t>
            </a:r>
            <a:r>
              <a:rPr lang="en-US" sz="1400" dirty="0"/>
              <a:t>)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561656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9D685D-5941-48D7-AD04-1B5BE8BF2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867" y="165100"/>
            <a:ext cx="65278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07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C41FB2F-897A-403F-8156-570D3AC337FE}"/>
              </a:ext>
            </a:extLst>
          </p:cNvPr>
          <p:cNvGrpSpPr/>
          <p:nvPr/>
        </p:nvGrpSpPr>
        <p:grpSpPr>
          <a:xfrm>
            <a:off x="64168" y="688143"/>
            <a:ext cx="11630526" cy="6091313"/>
            <a:chOff x="56147" y="383343"/>
            <a:chExt cx="11630526" cy="609131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7AAC82-1931-4D55-8357-2CE3A6F28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47" y="383343"/>
              <a:ext cx="11630526" cy="6091313"/>
            </a:xfrm>
            <a:prstGeom prst="rect">
              <a:avLst/>
            </a:prstGeom>
          </p:spPr>
        </p:pic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5EBA3A2-8E91-4ED9-8CE1-2EB691635E24}"/>
                </a:ext>
              </a:extLst>
            </p:cNvPr>
            <p:cNvSpPr/>
            <p:nvPr/>
          </p:nvSpPr>
          <p:spPr>
            <a:xfrm>
              <a:off x="6907463" y="5381625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392BE84-443A-4279-8FD9-D4E7ED83E95B}"/>
                </a:ext>
              </a:extLst>
            </p:cNvPr>
            <p:cNvSpPr/>
            <p:nvPr/>
          </p:nvSpPr>
          <p:spPr>
            <a:xfrm>
              <a:off x="7053513" y="5381625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FDDD87-F198-4466-92B6-A5F5DE31D7DE}"/>
                </a:ext>
              </a:extLst>
            </p:cNvPr>
            <p:cNvSpPr/>
            <p:nvPr/>
          </p:nvSpPr>
          <p:spPr>
            <a:xfrm>
              <a:off x="7444038" y="5334000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7883C16-BDD2-4CE6-95AF-FCFFCECF1710}"/>
                </a:ext>
              </a:extLst>
            </p:cNvPr>
            <p:cNvSpPr/>
            <p:nvPr/>
          </p:nvSpPr>
          <p:spPr>
            <a:xfrm>
              <a:off x="7529763" y="5978525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3C5AB4-B93E-4FCF-8A85-B20647995FC3}"/>
                </a:ext>
              </a:extLst>
            </p:cNvPr>
            <p:cNvSpPr/>
            <p:nvPr/>
          </p:nvSpPr>
          <p:spPr>
            <a:xfrm>
              <a:off x="7909426" y="5378450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1E8F36-0ED0-482A-A45C-096515548697}"/>
                </a:ext>
              </a:extLst>
            </p:cNvPr>
            <p:cNvSpPr/>
            <p:nvPr/>
          </p:nvSpPr>
          <p:spPr>
            <a:xfrm>
              <a:off x="8272295" y="5334000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CBBD2CC-B180-40D1-B347-32B03FA7B932}"/>
                </a:ext>
              </a:extLst>
            </p:cNvPr>
            <p:cNvSpPr/>
            <p:nvPr/>
          </p:nvSpPr>
          <p:spPr>
            <a:xfrm>
              <a:off x="9660189" y="5299074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5F8921A-2CCB-494E-B696-D7FE83D00CF3}"/>
                </a:ext>
              </a:extLst>
            </p:cNvPr>
            <p:cNvSpPr/>
            <p:nvPr/>
          </p:nvSpPr>
          <p:spPr>
            <a:xfrm>
              <a:off x="9951157" y="5383212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85418FB-F835-4E36-87FA-9FBEE2CD716E}"/>
                </a:ext>
              </a:extLst>
            </p:cNvPr>
            <p:cNvSpPr/>
            <p:nvPr/>
          </p:nvSpPr>
          <p:spPr>
            <a:xfrm>
              <a:off x="6189913" y="6026150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5B44BF-BEA9-4A14-BE65-414E33EDCBE1}"/>
                </a:ext>
              </a:extLst>
            </p:cNvPr>
            <p:cNvSpPr/>
            <p:nvPr/>
          </p:nvSpPr>
          <p:spPr>
            <a:xfrm>
              <a:off x="5863723" y="6019800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ED794E2-EEDF-4943-B22F-C5E9AD1474E1}"/>
                </a:ext>
              </a:extLst>
            </p:cNvPr>
            <p:cNvSpPr/>
            <p:nvPr/>
          </p:nvSpPr>
          <p:spPr>
            <a:xfrm>
              <a:off x="5212848" y="5983287"/>
              <a:ext cx="61662" cy="60325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3D8FDBF-9F5F-4AF4-8AFE-98604C7ACE9C}"/>
              </a:ext>
            </a:extLst>
          </p:cNvPr>
          <p:cNvSpPr txBox="1"/>
          <p:nvPr/>
        </p:nvSpPr>
        <p:spPr>
          <a:xfrm>
            <a:off x="409072" y="56147"/>
            <a:ext cx="10547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Второй шаг</a:t>
            </a:r>
            <a:r>
              <a:rPr lang="en-US" dirty="0"/>
              <a:t>. </a:t>
            </a:r>
            <a:r>
              <a:rPr lang="ru-RU" dirty="0"/>
              <a:t>Анализ остатков </a:t>
            </a:r>
            <a:r>
              <a:rPr lang="en-US" dirty="0"/>
              <a:t>(residuals,</a:t>
            </a:r>
            <a:r>
              <a:rPr lang="el-GR" b="1" dirty="0"/>
              <a:t> </a:t>
            </a:r>
            <a:r>
              <a:rPr lang="el-GR" dirty="0"/>
              <a:t>ε</a:t>
            </a:r>
            <a:r>
              <a:rPr lang="en-US" dirty="0"/>
              <a:t>)</a:t>
            </a:r>
            <a:r>
              <a:rPr lang="ru-RU" dirty="0"/>
              <a:t> модели</a:t>
            </a:r>
            <a:r>
              <a:rPr lang="en-US" dirty="0"/>
              <a:t>: </a:t>
            </a:r>
            <a:r>
              <a:rPr lang="ru-RU" dirty="0"/>
              <a:t>Обоснование робастной фильтрации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054F9A-BB87-4012-A3AA-1BC0A166F9EF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Распределение ошибок модели является лептокуртическим</a:t>
            </a:r>
            <a:r>
              <a:rPr lang="en-US" sz="1400" dirty="0"/>
              <a:t> (Kurtosis &gt; 3)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632980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301035-1403-4DAB-B3F0-42D304D5BF1E}"/>
              </a:ext>
            </a:extLst>
          </p:cNvPr>
          <p:cNvSpPr txBox="1"/>
          <p:nvPr/>
        </p:nvSpPr>
        <p:spPr>
          <a:xfrm>
            <a:off x="409072" y="64169"/>
            <a:ext cx="596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Робастный алгоритм</a:t>
            </a:r>
            <a:r>
              <a:rPr lang="en-US" dirty="0"/>
              <a:t>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359A7F-947C-44A0-9110-DA63A86BCA90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Математический аппарат детекции аномалий</a:t>
            </a:r>
            <a:endParaRPr lang="en-AU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CEEA4-E72A-43A5-A8E3-51D123483F83}"/>
              </a:ext>
            </a:extLst>
          </p:cNvPr>
          <p:cNvSpPr txBox="1"/>
          <p:nvPr/>
        </p:nvSpPr>
        <p:spPr>
          <a:xfrm>
            <a:off x="473825" y="6483927"/>
            <a:ext cx="19618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*Median Absolute Deviation</a:t>
            </a:r>
            <a:endParaRPr lang="en-AU" sz="9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3D07491-F011-4E61-BC6F-A32DEB24D913}"/>
              </a:ext>
            </a:extLst>
          </p:cNvPr>
          <p:cNvGrpSpPr/>
          <p:nvPr/>
        </p:nvGrpSpPr>
        <p:grpSpPr>
          <a:xfrm>
            <a:off x="290946" y="1055510"/>
            <a:ext cx="5961095" cy="5334506"/>
            <a:chOff x="290946" y="1055510"/>
            <a:chExt cx="5961095" cy="533450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A087013-7A90-41FE-85BC-9C2DE16672C7}"/>
                </a:ext>
              </a:extLst>
            </p:cNvPr>
            <p:cNvGrpSpPr/>
            <p:nvPr/>
          </p:nvGrpSpPr>
          <p:grpSpPr>
            <a:xfrm>
              <a:off x="290946" y="1055510"/>
              <a:ext cx="5961095" cy="5334506"/>
              <a:chOff x="290946" y="1055510"/>
              <a:chExt cx="5961095" cy="533450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8C50BCE-770C-4504-AEFE-480625BE721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55" t="4556" r="24509" b="6546"/>
              <a:stretch/>
            </p:blipFill>
            <p:spPr>
              <a:xfrm>
                <a:off x="290946" y="1055510"/>
                <a:ext cx="4829694" cy="5334506"/>
              </a:xfrm>
              <a:prstGeom prst="rect">
                <a:avLst/>
              </a:prstGeom>
            </p:spPr>
          </p:pic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FBBA02BA-543F-4677-A333-F453E622205D}"/>
                  </a:ext>
                </a:extLst>
              </p:cNvPr>
              <p:cNvGrpSpPr/>
              <p:nvPr/>
            </p:nvGrpSpPr>
            <p:grpSpPr>
              <a:xfrm>
                <a:off x="3724102" y="1745796"/>
                <a:ext cx="2527939" cy="640121"/>
                <a:chOff x="3724102" y="1745796"/>
                <a:chExt cx="2527939" cy="640121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ACC04BEF-6B74-46FE-BD9D-88CBCFCC5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050" t="27273" r="45906" b="60364"/>
                <a:stretch/>
              </p:blipFill>
              <p:spPr>
                <a:xfrm>
                  <a:off x="3724102" y="1745796"/>
                  <a:ext cx="2435629" cy="640121"/>
                </a:xfrm>
                <a:prstGeom prst="rect">
                  <a:avLst/>
                </a:prstGeom>
              </p:spPr>
            </p:pic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1FEB4ED-8331-4AF3-97AA-F8F941E4AF5A}"/>
                    </a:ext>
                  </a:extLst>
                </p:cNvPr>
                <p:cNvSpPr/>
                <p:nvPr/>
              </p:nvSpPr>
              <p:spPr>
                <a:xfrm>
                  <a:off x="5445706" y="1803862"/>
                  <a:ext cx="806335" cy="14962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26FED4-9D1D-4C5A-B768-3DF3810FEAF6}"/>
                </a:ext>
              </a:extLst>
            </p:cNvPr>
            <p:cNvSpPr txBox="1"/>
            <p:nvPr/>
          </p:nvSpPr>
          <p:spPr>
            <a:xfrm>
              <a:off x="847898" y="3146995"/>
              <a:ext cx="8728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*</a:t>
              </a:r>
              <a:endParaRPr lang="en-AU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4930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B3FCB15-69DC-4001-823E-ECA951522F1C}"/>
              </a:ext>
            </a:extLst>
          </p:cNvPr>
          <p:cNvGrpSpPr/>
          <p:nvPr/>
        </p:nvGrpSpPr>
        <p:grpSpPr>
          <a:xfrm>
            <a:off x="969524" y="665747"/>
            <a:ext cx="10252951" cy="6192253"/>
            <a:chOff x="888291" y="0"/>
            <a:chExt cx="1041541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DF0A7C-0EFD-40CA-A38F-8606515A0B1C}"/>
                </a:ext>
              </a:extLst>
            </p:cNvPr>
            <p:cNvGrpSpPr/>
            <p:nvPr/>
          </p:nvGrpSpPr>
          <p:grpSpPr>
            <a:xfrm>
              <a:off x="888291" y="0"/>
              <a:ext cx="10415417" cy="6858000"/>
              <a:chOff x="888291" y="0"/>
              <a:chExt cx="10415417" cy="685800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C0A19B2C-AFB0-4509-AE61-9DD572DEB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291" y="0"/>
                <a:ext cx="10415417" cy="6858000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0A450005-926C-4C02-BD7F-5C9C058631C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93" t="98480" r="91201" b="-117"/>
              <a:stretch/>
            </p:blipFill>
            <p:spPr>
              <a:xfrm>
                <a:off x="1267326" y="3324727"/>
                <a:ext cx="521369" cy="112294"/>
              </a:xfrm>
              <a:prstGeom prst="rect">
                <a:avLst/>
              </a:prstGeom>
            </p:spPr>
          </p:pic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0DED25-4A8A-4289-89EF-932CCDBC12BC}"/>
                </a:ext>
              </a:extLst>
            </p:cNvPr>
            <p:cNvSpPr txBox="1"/>
            <p:nvPr/>
          </p:nvSpPr>
          <p:spPr>
            <a:xfrm>
              <a:off x="9617243" y="4604084"/>
              <a:ext cx="106680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ru-RU" sz="800" dirty="0"/>
                <a:t>Игнорируется</a:t>
              </a:r>
              <a:endParaRPr lang="en-AU" sz="1000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4895732-F73E-48C2-9B1C-77C0B3DF07EF}"/>
              </a:ext>
            </a:extLst>
          </p:cNvPr>
          <p:cNvSpPr txBox="1"/>
          <p:nvPr/>
        </p:nvSpPr>
        <p:spPr>
          <a:xfrm>
            <a:off x="409073" y="56147"/>
            <a:ext cx="11999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Mean vs Median</a:t>
            </a:r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23E3E-9DAF-4460-93D4-7DD5F3B7E8F2}"/>
              </a:ext>
            </a:extLst>
          </p:cNvPr>
          <p:cNvSpPr txBox="1"/>
          <p:nvPr/>
        </p:nvSpPr>
        <p:spPr>
          <a:xfrm>
            <a:off x="409072" y="312535"/>
            <a:ext cx="109487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Как выбросы ломают стандартное отклонение </a:t>
            </a:r>
            <a:r>
              <a:rPr lang="en-US" sz="1400" dirty="0"/>
              <a:t>(</a:t>
            </a:r>
            <a:r>
              <a:rPr lang="ru-RU" sz="1400" dirty="0"/>
              <a:t>перетягивание каната</a:t>
            </a:r>
            <a:r>
              <a:rPr lang="en-US" sz="1400" dirty="0"/>
              <a:t>)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63777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C100ED-D955-4E8A-A0F8-BB626BCC7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" y="591712"/>
            <a:ext cx="11816855" cy="612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9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D5B7E3-A11B-45FE-B3ED-6391AAE83F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956"/>
            <a:ext cx="12192000" cy="65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8AE77E-3B19-495F-B50F-53428B41D8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122"/>
            <a:ext cx="12192000" cy="625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87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</TotalTime>
  <Words>1130</Words>
  <Application>Microsoft Office PowerPoint</Application>
  <PresentationFormat>Widescreen</PresentationFormat>
  <Paragraphs>89</Paragraphs>
  <Slides>12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Камов Баграт</dc:creator>
  <cp:lastModifiedBy>Камов Баграт</cp:lastModifiedBy>
  <cp:revision>56</cp:revision>
  <dcterms:created xsi:type="dcterms:W3CDTF">2026-01-15T12:27:50Z</dcterms:created>
  <dcterms:modified xsi:type="dcterms:W3CDTF">2026-01-29T14:58:37Z</dcterms:modified>
</cp:coreProperties>
</file>